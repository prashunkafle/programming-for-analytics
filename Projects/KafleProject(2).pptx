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4"/>
  </p:notes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2049" autoAdjust="0"/>
  </p:normalViewPr>
  <p:slideViewPr>
    <p:cSldViewPr snapToGrid="0">
      <p:cViewPr>
        <p:scale>
          <a:sx n="76" d="100"/>
          <a:sy n="76" d="100"/>
        </p:scale>
        <p:origin x="260" y="36"/>
      </p:cViewPr>
      <p:guideLst/>
    </p:cSldViewPr>
  </p:slideViewPr>
  <p:notesTextViewPr>
    <p:cViewPr>
      <p:scale>
        <a:sx n="1" d="1"/>
        <a:sy n="1" d="1"/>
      </p:scale>
      <p:origin x="0" y="-196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fle, Prashun - DSU Student" userId="bbf5db89-c6fe-4170-a6e3-529407a72c15" providerId="ADAL" clId="{A33D6E47-C924-476D-B215-88D8F83BCEA1}"/>
    <pc:docChg chg="undo custSel modSld">
      <pc:chgData name="Kafle, Prashun - DSU Student" userId="bbf5db89-c6fe-4170-a6e3-529407a72c15" providerId="ADAL" clId="{A33D6E47-C924-476D-B215-88D8F83BCEA1}" dt="2025-12-11T17:12:12.490" v="147" actId="20577"/>
      <pc:docMkLst>
        <pc:docMk/>
      </pc:docMkLst>
      <pc:sldChg chg="modSp mod modNotesTx">
        <pc:chgData name="Kafle, Prashun - DSU Student" userId="bbf5db89-c6fe-4170-a6e3-529407a72c15" providerId="ADAL" clId="{A33D6E47-C924-476D-B215-88D8F83BCEA1}" dt="2025-12-11T17:12:12.490" v="147" actId="20577"/>
        <pc:sldMkLst>
          <pc:docMk/>
          <pc:sldMk cId="2485537844" sldId="256"/>
        </pc:sldMkLst>
        <pc:spChg chg="mod">
          <ac:chgData name="Kafle, Prashun - DSU Student" userId="bbf5db89-c6fe-4170-a6e3-529407a72c15" providerId="ADAL" clId="{A33D6E47-C924-476D-B215-88D8F83BCEA1}" dt="2025-12-10T22:34:12.772" v="146" actId="14100"/>
          <ac:spMkLst>
            <pc:docMk/>
            <pc:sldMk cId="2485537844" sldId="256"/>
            <ac:spMk id="2" creationId="{069E4437-8496-AF0E-C902-1F4A17284E90}"/>
          </ac:spMkLst>
        </pc:spChg>
      </pc:sldChg>
      <pc:sldChg chg="modNotesTx">
        <pc:chgData name="Kafle, Prashun - DSU Student" userId="bbf5db89-c6fe-4170-a6e3-529407a72c15" providerId="ADAL" clId="{A33D6E47-C924-476D-B215-88D8F83BCEA1}" dt="2025-12-10T22:27:56.713" v="144" actId="20577"/>
        <pc:sldMkLst>
          <pc:docMk/>
          <pc:sldMk cId="1881169365" sldId="258"/>
        </pc:sldMkLst>
      </pc:sldChg>
      <pc:sldChg chg="addSp delSp modSp mod setBg modNotesTx">
        <pc:chgData name="Kafle, Prashun - DSU Student" userId="bbf5db89-c6fe-4170-a6e3-529407a72c15" providerId="ADAL" clId="{A33D6E47-C924-476D-B215-88D8F83BCEA1}" dt="2025-12-10T22:24:53.576" v="142" actId="26606"/>
        <pc:sldMkLst>
          <pc:docMk/>
          <pc:sldMk cId="1457992055" sldId="267"/>
        </pc:sldMkLst>
        <pc:spChg chg="mod">
          <ac:chgData name="Kafle, Prashun - DSU Student" userId="bbf5db89-c6fe-4170-a6e3-529407a72c15" providerId="ADAL" clId="{A33D6E47-C924-476D-B215-88D8F83BCEA1}" dt="2025-12-10T22:24:53.576" v="142" actId="26606"/>
          <ac:spMkLst>
            <pc:docMk/>
            <pc:sldMk cId="1457992055" sldId="267"/>
            <ac:spMk id="2" creationId="{062167C1-9EFB-3644-401A-6A78FD0D654D}"/>
          </ac:spMkLst>
        </pc:spChg>
        <pc:spChg chg="mod">
          <ac:chgData name="Kafle, Prashun - DSU Student" userId="bbf5db89-c6fe-4170-a6e3-529407a72c15" providerId="ADAL" clId="{A33D6E47-C924-476D-B215-88D8F83BCEA1}" dt="2025-12-10T22:24:53.576" v="142" actId="26606"/>
          <ac:spMkLst>
            <pc:docMk/>
            <pc:sldMk cId="1457992055" sldId="267"/>
            <ac:spMk id="3" creationId="{145174AE-82A7-103E-2B27-E074EB1D7AA5}"/>
          </ac:spMkLst>
        </pc:spChg>
        <pc:spChg chg="add del">
          <ac:chgData name="Kafle, Prashun - DSU Student" userId="bbf5db89-c6fe-4170-a6e3-529407a72c15" providerId="ADAL" clId="{A33D6E47-C924-476D-B215-88D8F83BCEA1}" dt="2025-12-10T22:24:53.569" v="141" actId="26606"/>
          <ac:spMkLst>
            <pc:docMk/>
            <pc:sldMk cId="1457992055" sldId="267"/>
            <ac:spMk id="10" creationId="{CBB0869A-0BE5-B3E9-F73D-2F3691E4D932}"/>
          </ac:spMkLst>
        </pc:spChg>
        <pc:spChg chg="add">
          <ac:chgData name="Kafle, Prashun - DSU Student" userId="bbf5db89-c6fe-4170-a6e3-529407a72c15" providerId="ADAL" clId="{A33D6E47-C924-476D-B215-88D8F83BCEA1}" dt="2025-12-10T22:24:53.576" v="142" actId="26606"/>
          <ac:spMkLst>
            <pc:docMk/>
            <pc:sldMk cId="1457992055" sldId="267"/>
            <ac:spMk id="12" creationId="{2961259D-605E-E200-FF9F-7C8C71D7C8E4}"/>
          </ac:spMkLst>
        </pc:spChg>
        <pc:picChg chg="add mod">
          <ac:chgData name="Kafle, Prashun - DSU Student" userId="bbf5db89-c6fe-4170-a6e3-529407a72c15" providerId="ADAL" clId="{A33D6E47-C924-476D-B215-88D8F83BCEA1}" dt="2025-12-10T22:24:53.576" v="142" actId="26606"/>
          <ac:picMkLst>
            <pc:docMk/>
            <pc:sldMk cId="1457992055" sldId="267"/>
            <ac:picMk id="5" creationId="{3030FC31-F756-85B5-BA09-61D42979F83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3F2B85-7FCF-42D2-9D9F-C1F60B5C92D1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B267D0-F0C4-4D1E-8A41-B9BA028C1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567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project focus: Delta arrival delays at SFO</a:t>
            </a:r>
          </a:p>
          <a:p>
            <a:endParaRPr lang="en-US" dirty="0"/>
          </a:p>
          <a:p>
            <a:r>
              <a:rPr lang="en-US" dirty="0"/>
              <a:t>Goal: understand delay patterns + financial impact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267D0-F0C4-4D1E-8A41-B9BA028C1A9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0219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causes Delta delays at SFO?</a:t>
            </a:r>
          </a:p>
          <a:p>
            <a:r>
              <a:rPr lang="en-US" dirty="0"/>
              <a:t>Do delays vary by month or hour?</a:t>
            </a:r>
          </a:p>
          <a:p>
            <a:r>
              <a:rPr lang="en-US" dirty="0"/>
              <a:t>Which delays are avoidable?</a:t>
            </a:r>
          </a:p>
          <a:p>
            <a:r>
              <a:rPr lang="en-US" dirty="0"/>
              <a:t>How much would vouchers cost Delta?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267D0-F0C4-4D1E-8A41-B9BA028C1A9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0311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from the US Bureau of Transportation Statistics</a:t>
            </a:r>
          </a:p>
          <a:p>
            <a:endParaRPr lang="en-US" dirty="0"/>
          </a:p>
          <a:p>
            <a:r>
              <a:rPr lang="en-US" dirty="0"/>
              <a:t>Filters: delta, </a:t>
            </a:r>
            <a:r>
              <a:rPr lang="en-US" dirty="0" err="1"/>
              <a:t>sfo</a:t>
            </a:r>
            <a:r>
              <a:rPr lang="en-US" dirty="0"/>
              <a:t>, 2024 full year</a:t>
            </a:r>
          </a:p>
          <a:p>
            <a:endParaRPr lang="en-US" dirty="0"/>
          </a:p>
          <a:p>
            <a:r>
              <a:rPr lang="en-US" dirty="0"/>
              <a:t>Includes all the arrival times, delays, and delay causes</a:t>
            </a:r>
          </a:p>
          <a:p>
            <a:endParaRPr lang="en-US" dirty="0"/>
          </a:p>
          <a:p>
            <a:r>
              <a:rPr lang="en-US" dirty="0"/>
              <a:t>Contains about 12880 rows of data after removing the metadata and cleaning.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267D0-F0C4-4D1E-8A41-B9BA028C1A9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4890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Removed 7 metadata rows + bottom row</a:t>
            </a:r>
          </a:p>
          <a:p>
            <a:r>
              <a:rPr lang="en-US" dirty="0"/>
              <a:t>Renamed columns</a:t>
            </a:r>
          </a:p>
          <a:p>
            <a:r>
              <a:rPr lang="en-US" dirty="0"/>
              <a:t>Converted dates/times to usable formats</a:t>
            </a:r>
          </a:p>
          <a:p>
            <a:r>
              <a:rPr lang="en-US" dirty="0"/>
              <a:t>Fixed numeric delay fields</a:t>
            </a:r>
          </a:p>
          <a:p>
            <a:r>
              <a:rPr lang="en-US" dirty="0"/>
              <a:t>Added month + arrival hour columns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267D0-F0C4-4D1E-8A41-B9BA028C1A9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530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delays are small</a:t>
            </a:r>
          </a:p>
          <a:p>
            <a:r>
              <a:rPr lang="en-US" dirty="0"/>
              <a:t>Average delay ≈ 18 minutes (1106minutes/18 hours outlier)</a:t>
            </a:r>
          </a:p>
          <a:p>
            <a:r>
              <a:rPr lang="en-US" dirty="0"/>
              <a:t>Delay distribution is highly skewed</a:t>
            </a:r>
          </a:p>
          <a:p>
            <a:r>
              <a:rPr lang="en-US" dirty="0"/>
              <a:t>A few extreme delays inflate the average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267D0-F0C4-4D1E-8A41-B9BA028C1A9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5693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Highest delays in May–June makes sense as San Francisco sees a lot of traffic during summer</a:t>
            </a:r>
          </a:p>
          <a:p>
            <a:r>
              <a:rPr lang="en-US" dirty="0"/>
              <a:t>Lowest delays in fall</a:t>
            </a:r>
          </a:p>
          <a:p>
            <a:r>
              <a:rPr lang="en-US" dirty="0"/>
              <a:t>Clear seasonal pattern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267D0-F0C4-4D1E-8A41-B9BA028C1A9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1182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Large delays from 1–4 AM</a:t>
            </a:r>
          </a:p>
          <a:p>
            <a:r>
              <a:rPr lang="en-US" dirty="0"/>
              <a:t>Caused by overnight spillover delays</a:t>
            </a:r>
          </a:p>
          <a:p>
            <a:r>
              <a:rPr lang="en-US" dirty="0"/>
              <a:t>Daytime delays are moderate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267D0-F0C4-4D1E-8A41-B9BA028C1A9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7920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contributors: NAS, Carrier, Late Aircraft</a:t>
            </a:r>
          </a:p>
          <a:p>
            <a:r>
              <a:rPr lang="en-US" dirty="0"/>
              <a:t>Weather delays minimal</a:t>
            </a:r>
          </a:p>
          <a:p>
            <a:r>
              <a:rPr lang="en-US" dirty="0"/>
              <a:t>Operational issues dominate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267D0-F0C4-4D1E-8A41-B9BA028C1A9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0968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Confirms early-morning delay spike</a:t>
            </a:r>
          </a:p>
          <a:p>
            <a:r>
              <a:rPr lang="en-US" dirty="0"/>
              <a:t>Mid-year months show higher intensity</a:t>
            </a:r>
          </a:p>
          <a:p>
            <a:r>
              <a:rPr lang="en-US" dirty="0"/>
              <a:t>Supports previous visuals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267D0-F0C4-4D1E-8A41-B9BA028C1A9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5043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Avoidable = Carrier + Late Aircraft</a:t>
            </a:r>
          </a:p>
          <a:p>
            <a:r>
              <a:rPr lang="en-US" dirty="0"/>
              <a:t>3 </a:t>
            </a:r>
            <a:r>
              <a:rPr lang="en-US" dirty="0" err="1"/>
              <a:t>hrs</a:t>
            </a:r>
            <a:r>
              <a:rPr lang="en-US" dirty="0"/>
              <a:t> → meal voucher</a:t>
            </a:r>
          </a:p>
          <a:p>
            <a:r>
              <a:rPr lang="en-US" dirty="0"/>
              <a:t>6 </a:t>
            </a:r>
            <a:r>
              <a:rPr lang="en-US" dirty="0" err="1"/>
              <a:t>hrs</a:t>
            </a:r>
            <a:r>
              <a:rPr lang="en-US" dirty="0"/>
              <a:t> → meal + hotel</a:t>
            </a:r>
          </a:p>
          <a:p>
            <a:r>
              <a:rPr lang="en-US" dirty="0"/>
              <a:t>Avg 140 passengers/flight</a:t>
            </a:r>
          </a:p>
          <a:p>
            <a:r>
              <a:rPr lang="en-US" dirty="0"/>
              <a:t>Food = $30, Hotel = $150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267D0-F0C4-4D1E-8A41-B9BA028C1A9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4472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estimated cost ≈ </a:t>
            </a:r>
            <a:r>
              <a:rPr lang="en-US" b="1" dirty="0"/>
              <a:t>$1,012,000</a:t>
            </a:r>
            <a:endParaRPr lang="en-US" dirty="0"/>
          </a:p>
          <a:p>
            <a:r>
              <a:rPr lang="en-US" dirty="0"/>
              <a:t>Driven by long controllable delays</a:t>
            </a:r>
          </a:p>
          <a:p>
            <a:r>
              <a:rPr lang="en-US" dirty="0"/>
              <a:t>Financial impact is significant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267D0-F0C4-4D1E-8A41-B9BA028C1A9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352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Delay peaks in summer</a:t>
            </a:r>
          </a:p>
          <a:p>
            <a:r>
              <a:rPr lang="en-US" dirty="0"/>
              <a:t>Worst delays occur early morning</a:t>
            </a:r>
          </a:p>
          <a:p>
            <a:r>
              <a:rPr lang="en-US" dirty="0"/>
              <a:t>Operational delays dominate causes</a:t>
            </a:r>
          </a:p>
          <a:p>
            <a:r>
              <a:rPr lang="en-US" dirty="0"/>
              <a:t>Avoidable delays exceed $1M in costs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267D0-F0C4-4D1E-8A41-B9BA028C1A9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029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423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313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444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775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537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235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853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742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306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17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21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733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D587E41-605C-A8E4-8BA5-0E0B3797C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 descr="Planes on an airport">
            <a:extLst>
              <a:ext uri="{FF2B5EF4-FFF2-40B4-BE49-F238E27FC236}">
                <a16:creationId xmlns:a16="http://schemas.microsoft.com/office/drawing/2014/main" id="{F585BDB8-CFEA-C3C0-0A3F-14B7C0C418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394" b="396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BD48A03-0DF9-3063-CB15-1BC2AEC79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14416"/>
            <a:ext cx="12191999" cy="1243584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9E4437-8496-AF0E-C902-1F4A17284E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768969"/>
            <a:ext cx="8183880" cy="960120"/>
          </a:xfrm>
        </p:spPr>
        <p:txBody>
          <a:bodyPr anchor="ctr">
            <a:normAutofit fontScale="90000"/>
          </a:bodyPr>
          <a:lstStyle/>
          <a:p>
            <a:pPr algn="l"/>
            <a:r>
              <a:rPr lang="en-US" sz="3100" dirty="0"/>
              <a:t>Project 2: Delta Air Lines Arrival Delay Analysis at San Francisco International Airport(SFO) (2024)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A584D2-5E34-5D7E-F8B7-5FCA8AE9C3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7245" y="5768969"/>
            <a:ext cx="3399681" cy="955994"/>
          </a:xfrm>
        </p:spPr>
        <p:txBody>
          <a:bodyPr anchor="ctr">
            <a:normAutofit/>
          </a:bodyPr>
          <a:lstStyle/>
          <a:p>
            <a:pPr algn="r"/>
            <a:r>
              <a:rPr lang="en-US" sz="1900"/>
              <a:t>- Prashun Kafle</a:t>
            </a:r>
          </a:p>
        </p:txBody>
      </p:sp>
    </p:spTree>
    <p:extLst>
      <p:ext uri="{BB962C8B-B14F-4D97-AF65-F5344CB8AC3E}">
        <p14:creationId xmlns:p14="http://schemas.microsoft.com/office/powerpoint/2010/main" val="24855378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7A54D8-A00A-098C-D6FA-CF8394F3D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US" dirty="0"/>
              <a:t>Problem statement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F33FF-030C-A355-A632-61E3632B8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r>
              <a:rPr lang="en-US" sz="1800"/>
              <a:t>Analyze arrival delays at SFO</a:t>
            </a:r>
          </a:p>
          <a:p>
            <a:r>
              <a:rPr lang="en-US" sz="1800"/>
              <a:t>Identify major causes</a:t>
            </a:r>
          </a:p>
          <a:p>
            <a:r>
              <a:rPr lang="en-US" sz="1800"/>
              <a:t>See how delays change by month and time of day</a:t>
            </a:r>
          </a:p>
          <a:p>
            <a:r>
              <a:rPr lang="en-US" sz="1800"/>
              <a:t>Estimate the cost of avoidable delays </a:t>
            </a:r>
          </a:p>
        </p:txBody>
      </p:sp>
      <p:pic>
        <p:nvPicPr>
          <p:cNvPr id="6" name="Picture 5" descr="A plane flying in the sky&#10;&#10;AI-generated content may be incorrect.">
            <a:extLst>
              <a:ext uri="{FF2B5EF4-FFF2-40B4-BE49-F238E27FC236}">
                <a16:creationId xmlns:a16="http://schemas.microsoft.com/office/drawing/2014/main" id="{6B59831B-AB6C-6BA6-1824-A29540ED1C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16" r="14805" b="2"/>
          <a:stretch>
            <a:fillRect/>
          </a:stretch>
        </p:blipFill>
        <p:spPr>
          <a:xfrm>
            <a:off x="6099880" y="1114923"/>
            <a:ext cx="5020542" cy="462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84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2167C1-9EFB-3644-401A-6A78FD0D6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1529932"/>
          </a:xfrm>
        </p:spPr>
        <p:txBody>
          <a:bodyPr anchor="b">
            <a:normAutofit/>
          </a:bodyPr>
          <a:lstStyle/>
          <a:p>
            <a:r>
              <a:rPr lang="en-US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174AE-82A7-103E-2B27-E074EB1D7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212848"/>
            <a:ext cx="6035041" cy="4096512"/>
          </a:xfrm>
        </p:spPr>
        <p:txBody>
          <a:bodyPr>
            <a:normAutofit/>
          </a:bodyPr>
          <a:lstStyle/>
          <a:p>
            <a:r>
              <a:rPr lang="en-US" sz="1800"/>
              <a:t>Source: BTS Detailed Statistics – Arrivals</a:t>
            </a:r>
          </a:p>
          <a:p>
            <a:r>
              <a:rPr lang="en-US" sz="1800"/>
              <a:t>Filters: Delta (DL), San Francisco International Airport(SFO),2024</a:t>
            </a:r>
          </a:p>
          <a:p>
            <a:r>
              <a:rPr lang="en-US" sz="1800"/>
              <a:t>Includes arrival times, delays, and delay causes</a:t>
            </a:r>
          </a:p>
          <a:p>
            <a:r>
              <a:rPr lang="en-US" sz="1800"/>
              <a:t>Contains about 12880 rows of data after removing the metadata and cleaning.</a:t>
            </a:r>
          </a:p>
          <a:p>
            <a:pPr marL="0" indent="0">
              <a:buNone/>
            </a:pPr>
            <a:endParaRPr lang="en-US" sz="1800"/>
          </a:p>
          <a:p>
            <a:endParaRPr lang="en-US" sz="1800"/>
          </a:p>
        </p:txBody>
      </p:sp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3030FC31-F756-85B5-BA09-61D42979F8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80" r="23513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992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7F52C6-97E7-2A00-0B4E-D630CA6A5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US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5A9C5-2CE5-06C4-185D-5BD07EA68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r>
              <a:rPr lang="en-US" sz="1800"/>
              <a:t>Removed metadata row</a:t>
            </a:r>
          </a:p>
          <a:p>
            <a:r>
              <a:rPr lang="en-US" sz="1800"/>
              <a:t>Renamed columns</a:t>
            </a:r>
          </a:p>
          <a:p>
            <a:r>
              <a:rPr lang="en-US" sz="1800"/>
              <a:t>Converted dates/times</a:t>
            </a:r>
          </a:p>
          <a:p>
            <a:r>
              <a:rPr lang="en-US" sz="1800"/>
              <a:t>Fixed delay values</a:t>
            </a:r>
          </a:p>
          <a:p>
            <a:r>
              <a:rPr lang="en-US" sz="1800"/>
              <a:t>Added month and hour fields</a:t>
            </a:r>
          </a:p>
          <a:p>
            <a:pPr marL="0" indent="0">
              <a:buNone/>
            </a:pPr>
            <a:endParaRPr lang="en-US" sz="1800"/>
          </a:p>
        </p:txBody>
      </p:sp>
      <p:pic>
        <p:nvPicPr>
          <p:cNvPr id="5" name="Picture 4" descr="A computer screen with text on it&#10;&#10;AI-generated content may be incorrect.">
            <a:extLst>
              <a:ext uri="{FF2B5EF4-FFF2-40B4-BE49-F238E27FC236}">
                <a16:creationId xmlns:a16="http://schemas.microsoft.com/office/drawing/2014/main" id="{AD4C9BA6-8191-363F-ACD9-DD3AB8788A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4201" y="1540042"/>
            <a:ext cx="6294840" cy="3734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169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8BEA04-EF55-092A-1829-2515111A7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US" dirty="0"/>
              <a:t>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6BCA0-A914-8F3C-D110-B42077FFB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r>
              <a:rPr lang="en-US" sz="1800"/>
              <a:t>Most delays are small</a:t>
            </a:r>
          </a:p>
          <a:p>
            <a:r>
              <a:rPr lang="en-US" sz="1800"/>
              <a:t>Some extreme outliers</a:t>
            </a:r>
          </a:p>
          <a:p>
            <a:r>
              <a:rPr lang="en-US" sz="1800"/>
              <a:t>Average delay = 18 min</a:t>
            </a:r>
          </a:p>
          <a:p>
            <a:r>
              <a:rPr lang="en-US" sz="1800"/>
              <a:t>Heavy right-skew </a:t>
            </a:r>
          </a:p>
          <a:p>
            <a:endParaRPr lang="en-US" sz="1800"/>
          </a:p>
        </p:txBody>
      </p:sp>
      <p:pic>
        <p:nvPicPr>
          <p:cNvPr id="5" name="Picture 4" descr="A graph with number of flights against arrival delays in minutes for Delta Airlines at SFO airport&#10;">
            <a:extLst>
              <a:ext uri="{FF2B5EF4-FFF2-40B4-BE49-F238E27FC236}">
                <a16:creationId xmlns:a16="http://schemas.microsoft.com/office/drawing/2014/main" id="{3C1F64A4-8CC4-A404-D456-48D8E5AA52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1261" y="1860096"/>
            <a:ext cx="5837780" cy="3137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150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4C2729-80E7-4EF4-85F5-B8269F03A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US" dirty="0"/>
              <a:t>Monthly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31EF4-BC6A-C6E7-9FF4-19A9129FD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r>
              <a:rPr lang="en-US" sz="1800"/>
              <a:t>Delays are highest in May-June</a:t>
            </a:r>
          </a:p>
          <a:p>
            <a:r>
              <a:rPr lang="en-US" sz="1800"/>
              <a:t>Lowest in early fall</a:t>
            </a:r>
          </a:p>
          <a:p>
            <a:endParaRPr lang="en-US" sz="1800"/>
          </a:p>
        </p:txBody>
      </p:sp>
      <p:pic>
        <p:nvPicPr>
          <p:cNvPr id="5" name="Picture 4" descr="A graph of blue bars&#10;&#10;AI-generated content may be incorrect.">
            <a:extLst>
              <a:ext uri="{FF2B5EF4-FFF2-40B4-BE49-F238E27FC236}">
                <a16:creationId xmlns:a16="http://schemas.microsoft.com/office/drawing/2014/main" id="{4C215181-2376-F6D0-E537-8215F0E0D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1261" y="1787124"/>
            <a:ext cx="5837780" cy="328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546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85D574-6D3B-CDB5-B189-422AAADB0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US" dirty="0"/>
              <a:t>Hour-of-Day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36350-9027-FA43-DCE7-FA63A3AAA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r>
              <a:rPr lang="en-US" sz="1800"/>
              <a:t>Huge delays in early morning (1-4 AM)</a:t>
            </a:r>
          </a:p>
          <a:p>
            <a:r>
              <a:rPr lang="en-US" sz="1800"/>
              <a:t>Due to spillover from overnight disruptions</a:t>
            </a:r>
          </a:p>
          <a:p>
            <a:pPr marL="0" indent="0">
              <a:buNone/>
            </a:pPr>
            <a:endParaRPr lang="en-US" sz="1800"/>
          </a:p>
        </p:txBody>
      </p:sp>
      <p:pic>
        <p:nvPicPr>
          <p:cNvPr id="5" name="Picture 4" descr="A graph showing the arrival of a flight&#10;&#10;AI-generated content may be incorrect.">
            <a:extLst>
              <a:ext uri="{FF2B5EF4-FFF2-40B4-BE49-F238E27FC236}">
                <a16:creationId xmlns:a16="http://schemas.microsoft.com/office/drawing/2014/main" id="{B97A0689-1578-743A-3784-296F64900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1261" y="1830907"/>
            <a:ext cx="5837780" cy="319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220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B0AB21-0DE9-00D5-E71F-921FD3DD7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US" dirty="0"/>
              <a:t>Delay Causes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4C1DC-0184-655A-1386-78D8B9997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/>
              <a:t>Biggest Contributors: </a:t>
            </a:r>
          </a:p>
          <a:p>
            <a:r>
              <a:rPr lang="en-US" sz="1800"/>
              <a:t>NAS(National Airspace System) Delays </a:t>
            </a:r>
          </a:p>
          <a:p>
            <a:r>
              <a:rPr lang="en-US" sz="1800"/>
              <a:t>Carrier delays</a:t>
            </a:r>
          </a:p>
          <a:p>
            <a:r>
              <a:rPr lang="en-US" sz="1800"/>
              <a:t>Late aircraft</a:t>
            </a:r>
          </a:p>
          <a:p>
            <a:pPr marL="0" indent="0">
              <a:buNone/>
            </a:pPr>
            <a:r>
              <a:rPr lang="en-US" sz="1800"/>
              <a:t>Minimal Contributors:</a:t>
            </a:r>
          </a:p>
          <a:p>
            <a:r>
              <a:rPr lang="en-US" sz="1800"/>
              <a:t>Weather</a:t>
            </a:r>
          </a:p>
          <a:p>
            <a:r>
              <a:rPr lang="en-US" sz="1800"/>
              <a:t>Security </a:t>
            </a:r>
          </a:p>
          <a:p>
            <a:endParaRPr lang="en-US" sz="1800"/>
          </a:p>
          <a:p>
            <a:endParaRPr lang="en-US" sz="1800"/>
          </a:p>
        </p:txBody>
      </p:sp>
      <p:pic>
        <p:nvPicPr>
          <p:cNvPr id="7" name="Picture 6" descr="A graph of a number of blue bars&#10;&#10;AI-generated content may be incorrect.">
            <a:extLst>
              <a:ext uri="{FF2B5EF4-FFF2-40B4-BE49-F238E27FC236}">
                <a16:creationId xmlns:a16="http://schemas.microsoft.com/office/drawing/2014/main" id="{37651FBD-E2D4-4099-5DE2-420BA5DD8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1261" y="1597396"/>
            <a:ext cx="5837780" cy="3663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657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77AF21-ADB7-3859-1088-29E8922AF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US" dirty="0"/>
              <a:t>Heatmap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5E092-4A1F-717E-289B-3CD83C100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r>
              <a:rPr lang="en-US" sz="1800"/>
              <a:t>Confirms morning delay spikes</a:t>
            </a:r>
          </a:p>
          <a:p>
            <a:r>
              <a:rPr lang="en-US" sz="1800"/>
              <a:t>Mid-year months show the highest intensity</a:t>
            </a:r>
          </a:p>
          <a:p>
            <a:endParaRPr lang="en-US" sz="1800"/>
          </a:p>
        </p:txBody>
      </p:sp>
      <p:pic>
        <p:nvPicPr>
          <p:cNvPr id="5" name="Picture 4" descr="A graph of a temperature&#10;&#10;AI-generated content may be incorrect.">
            <a:extLst>
              <a:ext uri="{FF2B5EF4-FFF2-40B4-BE49-F238E27FC236}">
                <a16:creationId xmlns:a16="http://schemas.microsoft.com/office/drawing/2014/main" id="{732D94E8-CBA3-39EF-8590-A9B832BEA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1261" y="1407668"/>
            <a:ext cx="5837780" cy="4042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388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8D2DEA-7B9F-E1D1-5F4D-8BDE645A7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1529932"/>
          </a:xfrm>
        </p:spPr>
        <p:txBody>
          <a:bodyPr anchor="b">
            <a:normAutofit/>
          </a:bodyPr>
          <a:lstStyle/>
          <a:p>
            <a:r>
              <a:rPr lang="en-US" dirty="0"/>
              <a:t>Avoidable Delay Cost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314CF-0A92-4BD6-6FB2-DE747137C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212848"/>
            <a:ext cx="6035041" cy="4096512"/>
          </a:xfrm>
        </p:spPr>
        <p:txBody>
          <a:bodyPr>
            <a:normAutofit/>
          </a:bodyPr>
          <a:lstStyle/>
          <a:p>
            <a:r>
              <a:rPr lang="en-US" sz="1800" dirty="0"/>
              <a:t>Avoidable = carrier + late aircraft</a:t>
            </a:r>
          </a:p>
          <a:p>
            <a:r>
              <a:rPr lang="en-US" sz="1800" dirty="0"/>
              <a:t>3+ hour delay = meal voucher</a:t>
            </a:r>
          </a:p>
          <a:p>
            <a:r>
              <a:rPr lang="en-US" sz="1800" dirty="0"/>
              <a:t>6+ hour delay = meal + hotel</a:t>
            </a:r>
          </a:p>
          <a:p>
            <a:r>
              <a:rPr lang="en-US" sz="1800" dirty="0"/>
              <a:t>Average of 140 passengers per flight</a:t>
            </a:r>
          </a:p>
          <a:p>
            <a:r>
              <a:rPr lang="en-US" sz="1800" dirty="0"/>
              <a:t>Food: $30 and Hotel: $150</a:t>
            </a:r>
          </a:p>
        </p:txBody>
      </p:sp>
      <p:pic>
        <p:nvPicPr>
          <p:cNvPr id="5" name="Picture 4" descr="Aerial view of parked airplane">
            <a:extLst>
              <a:ext uri="{FF2B5EF4-FFF2-40B4-BE49-F238E27FC236}">
                <a16:creationId xmlns:a16="http://schemas.microsoft.com/office/drawing/2014/main" id="{DB12CC56-56A1-48B6-B50C-1C9B67C028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535" r="38294" b="-1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531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169BDC-4117-28C1-1B50-86B3B8B0A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US" dirty="0"/>
              <a:t>Cost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E5E22-0ABF-958B-65C3-A36B9318A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r>
              <a:rPr lang="en-US" sz="1800"/>
              <a:t>Estimated compensation total ≈ $1,012,000</a:t>
            </a:r>
          </a:p>
          <a:p>
            <a:r>
              <a:rPr lang="en-US" sz="1800"/>
              <a:t>Most costs come from long carrier/late aircraft delays</a:t>
            </a:r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</p:txBody>
      </p:sp>
      <p:pic>
        <p:nvPicPr>
          <p:cNvPr id="7" name="Picture 6" descr="A model airplane on top of money&#10;&#10;AI-generated content may be incorrect.">
            <a:extLst>
              <a:ext uri="{FF2B5EF4-FFF2-40B4-BE49-F238E27FC236}">
                <a16:creationId xmlns:a16="http://schemas.microsoft.com/office/drawing/2014/main" id="{8DB3C318-3653-5A1E-35D1-A4C6F6E244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1261" y="1487938"/>
            <a:ext cx="5837780" cy="388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433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82FB1E-FA80-B6E8-BA10-AB0428D79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US" dirty="0"/>
              <a:t>Overall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675B8-6311-F790-76AC-522488A44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r>
              <a:rPr lang="en-US" sz="1800"/>
              <a:t>Delays spike in summer and early mornings</a:t>
            </a:r>
          </a:p>
          <a:p>
            <a:r>
              <a:rPr lang="en-US" sz="1800"/>
              <a:t>Operational delays dominate</a:t>
            </a:r>
          </a:p>
          <a:p>
            <a:r>
              <a:rPr lang="en-US" sz="1800"/>
              <a:t>Avoidable delays are costly</a:t>
            </a:r>
          </a:p>
          <a:p>
            <a:r>
              <a:rPr lang="en-US" sz="1800"/>
              <a:t>Over $1M in compensation due to ill and unforeseen management</a:t>
            </a:r>
          </a:p>
        </p:txBody>
      </p:sp>
      <p:pic>
        <p:nvPicPr>
          <p:cNvPr id="5" name="Picture 4" descr="A person walking in an airport&#10;&#10;AI-generated content may be incorrect.">
            <a:extLst>
              <a:ext uri="{FF2B5EF4-FFF2-40B4-BE49-F238E27FC236}">
                <a16:creationId xmlns:a16="http://schemas.microsoft.com/office/drawing/2014/main" id="{D66838B8-DBAD-A9F7-B251-6F5C886A24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1261" y="1787124"/>
            <a:ext cx="5837780" cy="328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35365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1197</TotalTime>
  <Words>556</Words>
  <Application>Microsoft Office PowerPoint</Application>
  <PresentationFormat>Widescreen</PresentationFormat>
  <Paragraphs>113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Neue Haas Grotesk Text Pro</vt:lpstr>
      <vt:lpstr>VanillaVTI</vt:lpstr>
      <vt:lpstr>Project 2: Delta Air Lines Arrival Delay Analysis at San Francisco International Airport(SFO) (2024)</vt:lpstr>
      <vt:lpstr>Problem statement </vt:lpstr>
      <vt:lpstr>Dataset</vt:lpstr>
      <vt:lpstr>Data Cleaning</vt:lpstr>
      <vt:lpstr>Data Analysis</vt:lpstr>
      <vt:lpstr>Monthly Trends</vt:lpstr>
      <vt:lpstr>Hour-of-Day Trends</vt:lpstr>
      <vt:lpstr>Delay Causes</vt:lpstr>
      <vt:lpstr>Heatmap Summary</vt:lpstr>
      <vt:lpstr>Avoidable Delay Cost</vt:lpstr>
      <vt:lpstr>Cost Results</vt:lpstr>
      <vt:lpstr>Overall 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Kafle, Prashun - DSU Student</dc:creator>
  <cp:lastModifiedBy>Kafle, Prashun - DSU Student</cp:lastModifiedBy>
  <cp:revision>1</cp:revision>
  <dcterms:created xsi:type="dcterms:W3CDTF">2025-12-10T21:14:39Z</dcterms:created>
  <dcterms:modified xsi:type="dcterms:W3CDTF">2025-12-11T17:12:21Z</dcterms:modified>
</cp:coreProperties>
</file>